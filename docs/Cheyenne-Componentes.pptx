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Cheyenne · Componentes a implementar</a:t>
            </a:r>
          </a:p>
          <a:p>
            <a:r>
              <a:rPr sz="1200">
                <a:solidFill>
                  <a:srgbClr val="B8C2D9"/>
                </a:solidFill>
              </a:rPr>
              <a:t>Qué falta construir y para qué se usa cada uno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5478627" cy="2240280"/>
          </a:xfrm>
          <a:prstGeom prst="roundRect">
            <a:avLst/>
          </a:prstGeom>
          <a:solidFill>
            <a:srgbClr val="EFF4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1D4ED8"/>
                </a:solidFill>
              </a:rPr>
              <a:t>1 · Motor de cálculo — cierre</a:t>
            </a:r>
          </a:p>
          <a:p>
            <a:pPr>
              <a:spcAft>
                <a:spcPts val="0"/>
              </a:spcAft>
            </a:pPr>
            <a:r>
              <a:rPr b="1" sz="1050">
                <a:solidFill>
                  <a:srgbClr val="1F2937"/>
                </a:solidFill>
              </a:rPr>
              <a:t>• Re-export de fórmulas (acumuladores)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6B7280"/>
                </a:solidFill>
              </a:rPr>
              <a:t>   Completar el catálogo real (89 acumuladores truncados) → tasas con importes reales.</a:t>
            </a:r>
          </a:p>
          <a:p>
            <a:pPr>
              <a:spcAft>
                <a:spcPts val="0"/>
              </a:spcAft>
            </a:pPr>
            <a:r>
              <a:rPr b="1" sz="1050">
                <a:solidFill>
                  <a:srgbClr val="1F2937"/>
                </a:solidFill>
              </a:rPr>
              <a:t>• Mapeo de variables @I_* por inmueble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6B7280"/>
                </a:solidFill>
              </a:rPr>
              <a:t>   Derivar zona, frente, esquina, unidades… de los datos del contribuyente, sin cargarlas a mano.</a:t>
            </a:r>
          </a:p>
          <a:p>
            <a:pPr>
              <a:spcAft>
                <a:spcPts val="0"/>
              </a:spcAft>
            </a:pPr>
            <a:r>
              <a:rPr b="1" sz="1050">
                <a:solidFill>
                  <a:srgbClr val="1F2937"/>
                </a:solidFill>
              </a:rPr>
              <a:t>• Confirmar #REDONDEOESPECIAL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6B7280"/>
                </a:solidFill>
              </a:rPr>
              <a:t>   Fijar la regla de redondeo exacta del recibo.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55867" y="1325880"/>
            <a:ext cx="5478627" cy="2240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059669"/>
                </a:solidFill>
              </a:rPr>
              <a:t>2 · Ciclo de cobranza</a:t>
            </a:r>
          </a:p>
          <a:p>
            <a:pPr>
              <a:spcAft>
                <a:spcPts val="0"/>
              </a:spcAft>
            </a:pPr>
            <a:r>
              <a:rPr b="1" sz="1050">
                <a:solidFill>
                  <a:srgbClr val="1F2937"/>
                </a:solidFill>
              </a:rPr>
              <a:t>• Cobro masivo por lote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6B7280"/>
                </a:solidFill>
              </a:rPr>
              <a:t>   Integrar Tesorería con la deuda: cobrar recibos en masa y bajar la cuenta corriente.</a:t>
            </a:r>
          </a:p>
          <a:p>
            <a:pPr>
              <a:spcAft>
                <a:spcPts val="0"/>
              </a:spcAft>
            </a:pPr>
            <a:r>
              <a:rPr b="1" sz="1050">
                <a:solidFill>
                  <a:srgbClr val="1F2937"/>
                </a:solidFill>
              </a:rPr>
              <a:t>• Cuenta corriente / libro mayor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6B7280"/>
                </a:solidFill>
              </a:rPr>
              <a:t>   Debe/Haber completo, saldos a favor y compensación.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40"/>
            <a:ext cx="5478627" cy="2788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B45309"/>
                </a:solidFill>
              </a:rPr>
              <a:t>3 · Módulos de gestión (nuevos)</a:t>
            </a:r>
          </a:p>
          <a:p>
            <a:pPr>
              <a:spcAft>
                <a:spcPts val="0"/>
              </a:spcAft>
            </a:pPr>
            <a:r>
              <a:rPr b="1" sz="1050">
                <a:solidFill>
                  <a:srgbClr val="1F2937"/>
                </a:solidFill>
              </a:rPr>
              <a:t>• Gestión de cobranzas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6B7280"/>
                </a:solidFill>
              </a:rPr>
              <a:t>   Operativos, intimaciones y seguimiento de morosos.</a:t>
            </a:r>
          </a:p>
          <a:p>
            <a:pPr>
              <a:spcAft>
                <a:spcPts val="0"/>
              </a:spcAft>
            </a:pPr>
            <a:r>
              <a:rPr b="1" sz="1050">
                <a:solidFill>
                  <a:srgbClr val="1F2937"/>
                </a:solidFill>
              </a:rPr>
              <a:t>• Apremios / Legales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6B7280"/>
                </a:solidFill>
              </a:rPr>
              <a:t>   Juicio de apremio, honorarios y embargos sobre deuda vencida.</a:t>
            </a:r>
          </a:p>
          <a:p>
            <a:pPr>
              <a:spcAft>
                <a:spcPts val="0"/>
              </a:spcAft>
            </a:pPr>
            <a:r>
              <a:rPr b="1" sz="1050">
                <a:solidFill>
                  <a:srgbClr val="1F2937"/>
                </a:solidFill>
              </a:rPr>
              <a:t>• Débito automático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6B7280"/>
                </a:solidFill>
              </a:rPr>
              <a:t>   Archivos de bancos/tarjetas, presentación y rechazos.</a:t>
            </a:r>
          </a:p>
          <a:p>
            <a:pPr>
              <a:spcAft>
                <a:spcPts val="0"/>
              </a:spcAft>
            </a:pPr>
            <a:r>
              <a:rPr b="1" sz="1050">
                <a:solidFill>
                  <a:srgbClr val="1F2937"/>
                </a:solidFill>
              </a:rPr>
              <a:t>• Informes / Reportes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6B7280"/>
                </a:solidFill>
              </a:rPr>
              <a:t>   Reportería de gestión y exportables (PDF/Excel).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5867" y="3749040"/>
            <a:ext cx="5478627" cy="27889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6D28D9"/>
                </a:solidFill>
              </a:rPr>
              <a:t>4 · Frontend / Portal</a:t>
            </a:r>
          </a:p>
          <a:p>
            <a:pPr>
              <a:spcAft>
                <a:spcPts val="0"/>
              </a:spcAft>
            </a:pPr>
            <a:r>
              <a:rPr b="1" sz="1050">
                <a:solidFill>
                  <a:srgbClr val="1F2937"/>
                </a:solidFill>
              </a:rPr>
              <a:t>• Dashboard con KPIs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6B7280"/>
                </a:solidFill>
              </a:rPr>
              <a:t>   Deuda total, recaudación del día/mes, emisiones pendientes.</a:t>
            </a:r>
          </a:p>
          <a:p>
            <a:pPr>
              <a:spcAft>
                <a:spcPts val="0"/>
              </a:spcAft>
            </a:pPr>
            <a:r>
              <a:rPr b="1" sz="1050">
                <a:solidFill>
                  <a:srgbClr val="1F2937"/>
                </a:solidFill>
              </a:rPr>
              <a:t>• Portal del contribuyente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6B7280"/>
                </a:solidFill>
              </a:rPr>
              <a:t>   Consulta web, boletas y pasarela de pago.</a:t>
            </a:r>
          </a:p>
          <a:p>
            <a:pPr>
              <a:spcAft>
                <a:spcPts val="0"/>
              </a:spcAft>
            </a:pPr>
            <a:r>
              <a:rPr b="1" sz="1050">
                <a:solidFill>
                  <a:srgbClr val="1F2937"/>
                </a:solidFill>
              </a:rPr>
              <a:t>• Importación de lotes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6B7280"/>
                </a:solidFill>
              </a:rPr>
              <a:t>   Cargar y seguir lotes de novedades/pagos.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